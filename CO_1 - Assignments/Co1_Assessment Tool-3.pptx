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6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4946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kern="0" spc="200" dirty="0">
                <a:solidFill>
                  <a:srgbClr val="E8873A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4000" dirty="0">
              <a:latin typeface="Bookman Old Style" panose="0205060405050502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754823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. Rohan</a:t>
            </a:r>
            <a:br>
              <a:rPr lang="en-US" sz="2000" b="1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192524482</a:t>
            </a:r>
            <a:endParaRPr lang="en-US" sz="2000" b="1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A70C507-A068-2649-65EF-60811699F9A0}"/>
              </a:ext>
            </a:extLst>
          </p:cNvPr>
          <p:cNvSpPr/>
          <p:nvPr/>
        </p:nvSpPr>
        <p:spPr>
          <a:xfrm>
            <a:off x="502920" y="3086099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Assessment Tool-3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Saveetha Institute of Medical and Technical Sciences -SIMATS | Chennai">
            <a:extLst>
              <a:ext uri="{FF2B5EF4-FFF2-40B4-BE49-F238E27FC236}">
                <a16:creationId xmlns:a16="http://schemas.microsoft.com/office/drawing/2014/main" id="{573F90CB-3BED-78B7-94A0-5B33DFAEB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46" y="348797"/>
            <a:ext cx="1005840" cy="1005840"/>
          </a:xfrm>
          <a:prstGeom prst="rect">
            <a:avLst/>
          </a:prstGeom>
        </p:spPr>
      </p:pic>
      <p:pic>
        <p:nvPicPr>
          <p:cNvPr id="14" name="Picture 13" descr="SIMATS CGPA Calculator">
            <a:extLst>
              <a:ext uri="{FF2B5EF4-FFF2-40B4-BE49-F238E27FC236}">
                <a16:creationId xmlns:a16="http://schemas.microsoft.com/office/drawing/2014/main" id="{CFB2C9E3-CACC-8C97-F741-67A84F616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214" y="348797"/>
            <a:ext cx="1005840" cy="1005840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5A9AFCEF-91BF-D164-30DD-2EC97FA2671C}"/>
              </a:ext>
            </a:extLst>
          </p:cNvPr>
          <p:cNvSpPr/>
          <p:nvPr/>
        </p:nvSpPr>
        <p:spPr>
          <a:xfrm>
            <a:off x="502920" y="3520441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CSA0501-Database Management System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INTRODUCTION TO DBMS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DBMS — and Why Do We Need One?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Management System (DBMS) is software that lets users define, create, populate, query, update and administer a database — acting as the controlled interface between raw stored data and every user or application that needs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4015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3785616"/>
            <a:ext cx="48828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— isolate applications from storage details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redundancy while maximizing consistency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access via indexing and query optimization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integrity, security and access control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concurrent multi-user access safely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backup, recovery and crash resilience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874520"/>
            <a:ext cx="4480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2331720"/>
            <a:ext cx="914" cy="4114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788920"/>
            <a:ext cx="3383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788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(Software Layer)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3429000"/>
            <a:ext cx="914" cy="4114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3886200"/>
            <a:ext cx="4114800" cy="6400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8862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Database  (Stored Data)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48463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E8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846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48463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E8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4846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98864" y="48463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E88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4846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9296" y="48463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E88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9296" y="4846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INTRODUCTION TO DBMS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Real-World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5564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39696"/>
            <a:ext cx="4882896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data redundancy through centralized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integrity-checked data across the enterprise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concurrent data sharing among many users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security and role-based access control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standards and constraints on stored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backup and automated crash recovery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via SQL instead of custom file code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63E5414A-2909-DB5E-6EFC-871F5CF1351F}"/>
              </a:ext>
            </a:extLst>
          </p:cNvPr>
          <p:cNvSpPr/>
          <p:nvPr/>
        </p:nvSpPr>
        <p:spPr>
          <a:xfrm>
            <a:off x="6294122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AFA65667-CE25-D2A2-32B8-71D2B57012CF}"/>
              </a:ext>
            </a:extLst>
          </p:cNvPr>
          <p:cNvSpPr/>
          <p:nvPr/>
        </p:nvSpPr>
        <p:spPr>
          <a:xfrm>
            <a:off x="6550152" y="175564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5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46FCA68A-A46F-2306-9A4E-7CCB98D617FD}"/>
              </a:ext>
            </a:extLst>
          </p:cNvPr>
          <p:cNvSpPr/>
          <p:nvPr/>
        </p:nvSpPr>
        <p:spPr>
          <a:xfrm>
            <a:off x="6550152" y="2121408"/>
            <a:ext cx="4882896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b="1" dirty="0"/>
              <a:t>Banking</a:t>
            </a:r>
            <a:r>
              <a:rPr lang="en-IN" sz="1600" dirty="0"/>
              <a:t> – Secure transaction management </a:t>
            </a: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b="1" dirty="0"/>
              <a:t>Airline Reservation</a:t>
            </a:r>
            <a:r>
              <a:rPr lang="en-IN" sz="1600" dirty="0"/>
              <a:t> – Ticket booking &amp; scheduling </a:t>
            </a: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b="1" dirty="0"/>
              <a:t>Universities</a:t>
            </a:r>
            <a:r>
              <a:rPr lang="en-IN" sz="1600" dirty="0"/>
              <a:t> – Student records management</a:t>
            </a: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dirty="0"/>
              <a:t> </a:t>
            </a:r>
            <a:r>
              <a:rPr lang="en-IN" sz="1600" b="1" dirty="0"/>
              <a:t>E-Commerce</a:t>
            </a:r>
            <a:r>
              <a:rPr lang="en-IN" sz="1600" dirty="0"/>
              <a:t> – Online sales &amp; orders </a:t>
            </a:r>
            <a:r>
              <a:rPr lang="en-IN" sz="1600" b="1" dirty="0"/>
              <a:t>Healthcare</a:t>
            </a:r>
            <a:r>
              <a:rPr lang="en-IN" sz="1600" dirty="0"/>
              <a:t> – Patient information systems </a:t>
            </a: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b="1" dirty="0"/>
              <a:t>Telecom</a:t>
            </a:r>
            <a:r>
              <a:rPr lang="en-IN" sz="1600" dirty="0"/>
              <a:t> – Customer &amp; billing management </a:t>
            </a: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IN" sz="1600" b="1" dirty="0"/>
              <a:t>Manufacturing / ERP</a:t>
            </a:r>
            <a:r>
              <a:rPr lang="en-IN" sz="1600" dirty="0"/>
              <a:t> – Inventory &amp; resource planning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FILE SYSTEMS VS DBMS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Organizations Moved Away from File-Based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834640" cy="621792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4206240" cy="621792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691640"/>
            <a:ext cx="4206240" cy="621792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6916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13432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134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31343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13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duplicated across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231343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313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via centralized 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35224"/>
            <a:ext cx="28346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935224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maintain, manual sync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2935224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through constraints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55701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5701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55701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5570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program-specific access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43800" y="355701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5570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concurrent multi-user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178808"/>
            <a:ext cx="28346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788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4178808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1788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File-level, coarse-grained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43800" y="4178808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1788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Fine-grained, role-based access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800600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006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4800600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8006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programs tied to file layout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43800" y="4800600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8006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physical independence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5422392"/>
            <a:ext cx="28346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42239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37560" y="5422392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54223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43800" y="5422392"/>
            <a:ext cx="4206240" cy="621792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54223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transaction-based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FILE SYSTEMS VS DBMS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Studies: Banking and Healthcare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891540" y="189961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kept separate customer files — duplicate, inconsistent records across branches.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DBMS: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core-banking database gives real-time balance updates and shared customer data across every branch.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guarantee that a fund transfer either fully completes or fully rolls back, and cross-table joins support fraud detection.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 isolated files meant lost patient history and repeated diagnostic tests.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DBMS: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Health Record (EHR) system links demographics, diagnoses, prescriptions and lab results in one place.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 with audit trails protects patient privacy while enabling faster, coordinated care across departments.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DBMS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Three-Level ANSI/SPARC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2819EF-B6DB-E888-812A-D6B15F1E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428" y="1279274"/>
            <a:ext cx="7932096" cy="5288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DBMS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Mappings in Practice — A University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013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Mappings Matter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85416"/>
            <a:ext cx="48828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External/Conceptual mapping links each user view to the single conceptual schema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Conceptual/Internal mapping links that schema to physical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level does not force changes in the others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is the basis of logical and physical data independence (see Q7)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013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Database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Course · Enrollment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Book · Loan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3108960"/>
            <a:ext cx="1280160" cy="4572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006840" y="3108960"/>
            <a:ext cx="1280160" cy="4572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3566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566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logical structure)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06840" y="4297680"/>
            <a:ext cx="914" cy="4114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470916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081C33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4709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 index on Student_ID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Hierarchical, Network and Relational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36118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459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645920"/>
            <a:ext cx="3611880" cy="50292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6459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645920"/>
            <a:ext cx="3611880" cy="50292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6459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68780" y="2423160"/>
            <a:ext cx="128016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8780" y="2423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1485900" y="2862072"/>
            <a:ext cx="822960" cy="429768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8860" y="2862072"/>
            <a:ext cx="822960" cy="429768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7260" y="3291840"/>
            <a:ext cx="10515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" y="32918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28900" y="3291840"/>
            <a:ext cx="10515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8900" y="32918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1074420" y="3730752"/>
            <a:ext cx="384048" cy="429768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58468" y="3730752"/>
            <a:ext cx="393192" cy="429768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" y="41605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C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" y="41605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23060" y="41605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C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3060" y="41605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parent-child links only;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navigate, rigid to restructure.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7740" y="256032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774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23660" y="256032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36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37860" y="3246120"/>
            <a:ext cx="822960" cy="5029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7860" y="3246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26380" y="3017520"/>
            <a:ext cx="822960" cy="365760"/>
          </a:xfrm>
          <a:prstGeom prst="line">
            <a:avLst/>
          </a:prstGeom>
          <a:noFill/>
          <a:ln w="15875">
            <a:solidFill>
              <a:srgbClr val="E887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6149340" y="3017520"/>
            <a:ext cx="822960" cy="365760"/>
          </a:xfrm>
          <a:prstGeom prst="line">
            <a:avLst/>
          </a:prstGeom>
          <a:noFill/>
          <a:ln w="15875">
            <a:solidFill>
              <a:srgbClr val="E88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6634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can have multiple owners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sets via a link record.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2514600"/>
            <a:ext cx="960120" cy="384048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5146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464040" y="2514600"/>
            <a:ext cx="960120" cy="384048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0" y="25146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424160" y="2514600"/>
            <a:ext cx="960120" cy="384048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0" y="25146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03920" y="2898648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28986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464040" y="2898648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64040" y="28986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424160" y="2898648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4160" y="28986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503920" y="3282696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32826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464040" y="3282696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32826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424160" y="3282696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24160" y="32826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503920" y="3666744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03920" y="36667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464040" y="3666744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6667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424160" y="3666744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24160" y="36667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412480" y="46634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simple rows and columns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shared key values.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Is Used in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3112" cy="1207008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128016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55648"/>
            <a:ext cx="2194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46120" y="1755648"/>
            <a:ext cx="81655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IMS; legacy banking systems; XML document stores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when data is naturally tree-shaped, e.g. an org chart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11183112" cy="1207008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063240"/>
            <a:ext cx="128016" cy="1207008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72968"/>
            <a:ext cx="2194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3172968"/>
            <a:ext cx="81655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IDMS; early airline reservation and telecom systems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many-to-many links better than hierarchical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1207008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480560"/>
            <a:ext cx="128016" cy="1207008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90288"/>
            <a:ext cx="2194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4590288"/>
            <a:ext cx="81655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PostgreSQL, SQL Server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default: e-commerce, banking, ERP, CRM platforms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ER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Online Library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971800"/>
            <a:ext cx="17830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71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2971800"/>
            <a:ext cx="17830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971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2971800"/>
            <a:ext cx="2057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29718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97480" y="2944368"/>
            <a:ext cx="1645920" cy="694944"/>
          </a:xfrm>
          <a:prstGeom prst="diamond">
            <a:avLst/>
          </a:prstGeom>
          <a:solidFill>
            <a:srgbClr val="F4F8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944368"/>
            <a:ext cx="1645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2944368"/>
            <a:ext cx="1965960" cy="694944"/>
          </a:xfrm>
          <a:prstGeom prst="diamond">
            <a:avLst/>
          </a:prstGeom>
          <a:solidFill>
            <a:srgbClr val="F4F8FA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944368"/>
            <a:ext cx="1965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3291840"/>
            <a:ext cx="320040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3291840"/>
            <a:ext cx="320040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291840"/>
            <a:ext cx="320040" cy="914"/>
          </a:xfrm>
          <a:prstGeom prst="line">
            <a:avLst/>
          </a:prstGeom>
          <a:noFill/>
          <a:ln w="15875">
            <a:solidFill>
              <a:srgbClr val="E887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3291840"/>
            <a:ext cx="320040" cy="914"/>
          </a:xfrm>
          <a:prstGeom prst="line">
            <a:avLst/>
          </a:prstGeom>
          <a:noFill/>
          <a:ln w="15875">
            <a:solidFill>
              <a:srgbClr val="E8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063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063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063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96528" y="3063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783080"/>
            <a:ext cx="21945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(PK), Name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463040" y="2286000"/>
            <a:ext cx="914" cy="6858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1783080"/>
            <a:ext cx="246888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(PK), Title, Author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2286000"/>
            <a:ext cx="914" cy="6858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1783080"/>
            <a:ext cx="24231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1783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(PK), Name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058400" y="2286000"/>
            <a:ext cx="914" cy="6858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4600" y="4023360"/>
            <a:ext cx="201168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Issue_Date, Due_Date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3520440" y="3639312"/>
            <a:ext cx="914" cy="384048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0749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21208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BORROWS many Books over time (M:N), recorded with Issue_Date and Due_Date. A LIBRARIAN MANAGES the Book catalogue (1:N) — one librarian oversees many book records.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ER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Library ER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= Entities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17720" y="1554480"/>
            <a:ext cx="7068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BOOK and LIBRARIAN are entity types — real-world objects the library tracks independently.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1" name="Text 9"/>
          <p:cNvSpPr/>
          <p:nvPr/>
        </p:nvSpPr>
        <p:spPr>
          <a:xfrm>
            <a:off x="1188720" y="26791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Ellipses = Attributes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2633472"/>
            <a:ext cx="7068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carries descriptive attributes; underlined attributes (Member_ID, Book_ID, Staff_ID) are primary keys.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502920" cy="5029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1188720" y="37581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= Relationships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3712464"/>
            <a:ext cx="7068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connects Member and Book; MANAGES connects Librarian and Book — each diamond names how entities interact.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882896"/>
            <a:ext cx="502920" cy="50292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882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1188720" y="48371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= Cardinality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17720" y="4791456"/>
            <a:ext cx="7068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is many-to-many (a member borrows many books, a book is borrowed by many members over time); MANAGES is one-to-many.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EER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University: Generalization &amp; Specialization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88636" y="1554480"/>
            <a:ext cx="201168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8636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25596" y="1225296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7094" y="1196113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(PK)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7116" y="1682496"/>
            <a:ext cx="685800" cy="2286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00316" y="1196113"/>
            <a:ext cx="14173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0316" y="1196113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7100316" y="1653313"/>
            <a:ext cx="685800" cy="2286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4436" y="2331720"/>
            <a:ext cx="640080" cy="4572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C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4436" y="23865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4476" y="2103120"/>
            <a:ext cx="914" cy="2286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7396" y="2404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 Specialization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H="1">
            <a:off x="4219956" y="2788920"/>
            <a:ext cx="1600200" cy="4114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788920"/>
            <a:ext cx="2514600" cy="4114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5556" y="320040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5556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68996" y="320040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8996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68996" y="3977640"/>
            <a:ext cx="18288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8996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Department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8883396" y="3703320"/>
            <a:ext cx="914" cy="27432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9916" y="4023360"/>
            <a:ext cx="640080" cy="41148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C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9916" y="40690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19956" y="3703320"/>
            <a:ext cx="914" cy="32004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2876" y="4078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Partial Specialization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H="1">
            <a:off x="2802636" y="4434840"/>
            <a:ext cx="1143000" cy="36576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4276" y="4434840"/>
            <a:ext cx="1143000" cy="36576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9676" y="4800600"/>
            <a:ext cx="164592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9676" y="4800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14316" y="4800600"/>
            <a:ext cx="164592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4316" y="4800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56716" y="3200400"/>
            <a:ext cx="182880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6716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Roll_No, Program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85516" y="3451860"/>
            <a:ext cx="320040" cy="914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EER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Generalize / Specialize the University Model?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013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(Bottom-Up)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85416"/>
            <a:ext cx="48828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STUDENT and FACULTY, notice shared attributes (ID, Name, Address)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those common attributes up into a PERSON superclass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attribute definitions and duplicate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relationships (e.g. Person has an Address) are defined once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8013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(Top-Down)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5392" y="2185416"/>
            <a:ext cx="48828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PERSON and split it into meaningful roles: STUDENT, FACULTY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adds attributes only it needs (Roll_No vs Employee_ID)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disjoint here: every person is exactly one of the two roles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is specialized again into UNDERGRADUATE / GRADUATE for finer detail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DATA INDEPENDENCE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 Physical Data Independence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conceptual schema (e.g. add a new attribute or entity) without rewriting external views or application programs.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an Email column to the Student table doesn't break existing queries that never reference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0B2E4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internal schema (storage structures, file organization, indexes) without changing the conceptual schema.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switching Student storage from a sequential file to a B+ tree index doesn't affect any application logic.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5230368"/>
            <a:ext cx="10671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" y="5614416"/>
            <a:ext cx="10671048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schema evolution over time while cutting maintenance cost and isolating users from implementation detail — the very foundation the three-level ANSI/SPARC architecture (Q3) is built to provide.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DBMS SOFTWARE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DBMS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31436" y="155448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4F8FA"/>
          </a:solidFill>
          <a:ln w="12700">
            <a:solidFill>
              <a:srgbClr val="5C7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1436" y="1554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4476" y="2148840"/>
            <a:ext cx="914" cy="36576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74236" y="25603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B2E4F"/>
          </a:solidFill>
          <a:ln/>
        </p:spPr>
      </p:sp>
      <p:sp>
        <p:nvSpPr>
          <p:cNvPr id="9" name="Text 7"/>
          <p:cNvSpPr/>
          <p:nvPr/>
        </p:nvSpPr>
        <p:spPr>
          <a:xfrm>
            <a:off x="4174236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4476" y="3200400"/>
            <a:ext cx="914" cy="36576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4236" y="36118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174236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4476" y="4251960"/>
            <a:ext cx="914" cy="36576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9916" y="466344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081C33"/>
          </a:solidFill>
          <a:ln/>
        </p:spPr>
      </p:sp>
      <p:sp>
        <p:nvSpPr>
          <p:cNvPr id="15" name="Text 13"/>
          <p:cNvSpPr/>
          <p:nvPr/>
        </p:nvSpPr>
        <p:spPr>
          <a:xfrm>
            <a:off x="3899916" y="4663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Database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0476" y="25603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63356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63356" y="3154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ACID, concurrency control &amp; recovery via the 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8014716" y="2880360"/>
            <a:ext cx="365760" cy="4572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8014716" y="3931920"/>
            <a:ext cx="365760" cy="91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6716" y="25603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9596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DML Compiler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39596" y="3154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schema &amp; query language into internal executable 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08476" y="2880360"/>
            <a:ext cx="365760" cy="914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•  CSA05  •  Assessment Tool 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DBMS SOFTWARE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Component Actually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3112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69080" y="1755648"/>
            <a:ext cx="734263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incoming SQL for syntax and semantics, then the Query Optimizer chooses the most efficient execution plan (which index to use, join order, etc.) before handing it off for execution.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1183112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4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3218688"/>
            <a:ext cx="734263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data actually sits on disk: the File Manager organizes records, the Buffer Manager caches pages in memory, and index structures speed up retrieval of matching rows.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83112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554480" y="4709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4681728"/>
            <a:ext cx="734263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ACID properties for every transaction — Atomicity, Consistency, Isolation, Durability — using locking or timestamping for concurrency control and the log for crash recovery.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STRONG VS WEAK ENTITIES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Entities in ER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0" y="2377440"/>
            <a:ext cx="19202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377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55448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 (PK)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1828800"/>
            <a:ext cx="320040" cy="54864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2359152"/>
            <a:ext cx="1901952" cy="73152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395728"/>
            <a:ext cx="1828800" cy="658368"/>
          </a:xfrm>
          <a:prstGeom prst="diamond">
            <a:avLst/>
          </a:prstGeom>
          <a:solidFill>
            <a:srgbClr val="F4F8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3957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DEPENDENT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724912"/>
            <a:ext cx="365760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2286000"/>
            <a:ext cx="21945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331720"/>
            <a:ext cx="2103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331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94960" y="2724912"/>
            <a:ext cx="365760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80160"/>
            <a:ext cx="17373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1280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Dependent_Name (partial 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1783080"/>
            <a:ext cx="91440" cy="54864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7614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7614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1828800" cy="457200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6576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3657600"/>
            <a:ext cx="4389120" cy="457200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41448" y="3657600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3657600"/>
            <a:ext cx="5029200" cy="457200"/>
          </a:xfrm>
          <a:prstGeom prst="rect">
            <a:avLst/>
          </a:prstGeom>
          <a:solidFill>
            <a:srgbClr val="0B2E4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657600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1148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1148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411480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41448" y="4114800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rectangle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41148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4114800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Double-line rectangle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572000"/>
            <a:ext cx="182880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5720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4572000"/>
            <a:ext cx="438912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4572000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4572000"/>
            <a:ext cx="502920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4572000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PK of its own — needs a partial key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5029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50292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31720" y="502920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41448" y="5029200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independently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20840" y="502920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5029200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an owner (identifying) entity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5486400"/>
            <a:ext cx="182880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48640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here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331720" y="5486400"/>
            <a:ext cx="438912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41448" y="5486400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20840" y="5486400"/>
            <a:ext cx="5029200" cy="457200"/>
          </a:xfrm>
          <a:prstGeom prst="rect">
            <a:avLst/>
          </a:prstGeom>
          <a:solidFill>
            <a:srgbClr val="F4F8FA"/>
          </a:solidFill>
          <a:ln w="6350">
            <a:solidFill>
              <a:srgbClr val="C9D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0568" y="5486400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(identified through Employee_ID)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•  CSA05  •  Assessment Tool 3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EER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Retail Chain Management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34356" y="155448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4356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74436" y="2240280"/>
            <a:ext cx="640080" cy="365760"/>
          </a:xfrm>
          <a:prstGeom prst="triangl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4436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94476" y="2057400"/>
            <a:ext cx="914" cy="1828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 specialization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278892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80076" y="278892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0076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0" y="2788920"/>
            <a:ext cx="20116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788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CLERK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flipH="1">
            <a:off x="3063240" y="2606040"/>
            <a:ext cx="2756916" cy="1828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4476" y="2606040"/>
            <a:ext cx="914" cy="1828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8796" y="2606040"/>
            <a:ext cx="2500884" cy="1828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3977640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39776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20440" y="3995928"/>
            <a:ext cx="1463040" cy="548640"/>
          </a:xfrm>
          <a:prstGeom prst="diamond">
            <a:avLst/>
          </a:prstGeom>
          <a:solidFill>
            <a:srgbClr val="F4F8FA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9959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66360" y="3977640"/>
            <a:ext cx="164592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977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95160" y="3995928"/>
            <a:ext cx="1280160" cy="548640"/>
          </a:xfrm>
          <a:prstGeom prst="diamond">
            <a:avLst/>
          </a:prstGeom>
          <a:solidFill>
            <a:srgbClr val="F4F8FA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9959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58200" y="3977640"/>
            <a:ext cx="18288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977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337560" y="4274820"/>
            <a:ext cx="182880" cy="914"/>
          </a:xfrm>
          <a:prstGeom prst="line">
            <a:avLst/>
          </a:prstGeom>
          <a:noFill/>
          <a:ln w="15875">
            <a:solidFill>
              <a:srgbClr val="0B2E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4274820"/>
            <a:ext cx="182880" cy="914"/>
          </a:xfrm>
          <a:prstGeom prst="line">
            <a:avLst/>
          </a:prstGeom>
          <a:noFill/>
          <a:ln w="15875">
            <a:solidFill>
              <a:srgbClr val="0B2E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274820"/>
            <a:ext cx="182880" cy="914"/>
          </a:xfrm>
          <a:prstGeom prst="line">
            <a:avLst/>
          </a:prstGeom>
          <a:noFill/>
          <a:ln w="15875">
            <a:solidFill>
              <a:srgbClr val="0B2E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274820"/>
            <a:ext cx="182880" cy="914"/>
          </a:xfrm>
          <a:prstGeom prst="line">
            <a:avLst/>
          </a:prstGeom>
          <a:noFill/>
          <a:ln w="15875">
            <a:solidFill>
              <a:srgbClr val="0B2E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63240" y="5029200"/>
            <a:ext cx="14630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5029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Stock_Level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flipV="1">
            <a:off x="3794760" y="4572000"/>
            <a:ext cx="457200" cy="4572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5029200"/>
            <a:ext cx="173736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Sale_Date, Quantity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V="1">
            <a:off x="7132320" y="4572000"/>
            <a:ext cx="502920" cy="45720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 also has its own staff (1:N Employee) — captured in prose below.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580644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879592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specializes (disjoint, total) into MANAGER, CASHIER and STOCK CLERK; each STORE staffs many Employees (1:N). STORE stocks PRODUCT via INVENTORY (M:N, Stock_Level); CUSTOMER purchases PRODUCT via SALE (M:N), timestamped with Sale_Date and Quantity.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EER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Walkthrough —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5912" y="365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24028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EMPLOYEE, PRODUCT, CUSTOMER — the core objects the chain must track.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8524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78524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0316" y="178308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role hierarchy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3388" y="224028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is generalized, then specialized (disjoint, total) into MANAGER, CASHIER, STOCK CLERK so role-specific attributes stay separate.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310128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324612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 &amp; cardinality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70332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STORE–PRODUCT via INVENTORY (M:N, stock level); CUSTOMER–PRODUCT via SALE (M:N, date &amp; quantity); STORE–EMPLOYEE (1:N).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77356" y="310896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8524" y="33101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78524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0316" y="324612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keys &amp; attributes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3388" y="370332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entity a primary key (Store_ID, Product_ID, Customer_ID, Emp_ID) and the descriptive attributes it needs.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2920" y="457200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773168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25880" y="470916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many-to-many links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" y="516636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associative attributes/entities on INVENTORY and SALE to carry facts that belong to the relationship itself, not to either entity alone.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77356" y="4572000"/>
            <a:ext cx="5408676" cy="1280160"/>
          </a:xfrm>
          <a:prstGeom prst="roundRect">
            <a:avLst>
              <a:gd name="adj" fmla="val 6429"/>
            </a:avLst>
          </a:prstGeom>
          <a:solidFill>
            <a:srgbClr val="F4F8F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8524" y="4773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78524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100316" y="4709160"/>
            <a:ext cx="4402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one EER schema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3388" y="5166360"/>
            <a:ext cx="48966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 piece into a single enterprise-wide model that scales across multiple stores in the chain.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•  CSA05  •  Assessment Tool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1831</Words>
  <Application>Microsoft Office PowerPoint</Application>
  <PresentationFormat>Widescreen</PresentationFormat>
  <Paragraphs>325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Bookman Old Style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Eduru</cp:lastModifiedBy>
  <cp:revision>3</cp:revision>
  <dcterms:created xsi:type="dcterms:W3CDTF">2026-07-29T07:43:43Z</dcterms:created>
  <dcterms:modified xsi:type="dcterms:W3CDTF">2026-07-29T08:08:51Z</dcterms:modified>
</cp:coreProperties>
</file>